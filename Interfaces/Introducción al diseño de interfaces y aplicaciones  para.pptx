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78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64" r:id="rId23"/>
    <p:sldId id="277" r:id="rId24"/>
    <p:sldId id="279" r:id="rId25"/>
    <p:sldId id="280" r:id="rId2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8" autoAdjust="0"/>
    <p:restoredTop sz="92843" autoAdjust="0"/>
  </p:normalViewPr>
  <p:slideViewPr>
    <p:cSldViewPr snapToGrid="0">
      <p:cViewPr varScale="1">
        <p:scale>
          <a:sx n="76" d="100"/>
          <a:sy n="76" d="100"/>
        </p:scale>
        <p:origin x="9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85BEB-3434-4619-8038-F92B48BE7C4B}" type="datetimeFigureOut">
              <a:rPr lang="es-ES" smtClean="0"/>
              <a:t>18/09/2026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164B72-3C54-4508-BA89-63032B6BD14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562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64B72-3C54-4508-BA89-63032B6BD147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6740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7584F-EF8F-4DF5-B750-B8BB3C305C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A2C8D0-CE65-5D27-9C7D-4F02CAD7E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18D3A2-CA86-C1C6-5AB4-A1F3C0B22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A4844-7BED-45B8-A03B-637C12D178D0}" type="datetimeFigureOut">
              <a:rPr lang="es-ES" smtClean="0"/>
              <a:t>18/09/2026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F42D06-8694-51FF-986A-E821B41A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B89819-8118-8729-9E49-489C4FCAB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3C4AB-BECE-4F7E-B191-275FFF3B77D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578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63767-B753-7285-6F30-75E768656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3C300A-9D9D-61BF-B373-FE17AE0A3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E43886-1048-8F16-61DB-EF7C8186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A4844-7BED-45B8-A03B-637C12D178D0}" type="datetimeFigureOut">
              <a:rPr lang="es-ES" smtClean="0"/>
              <a:t>18/09/2026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2AE795-8819-B5B1-76BB-97F3F746A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CA0D0B-D1A3-EA33-D141-4F96B64A3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3C4AB-BECE-4F7E-B191-275FFF3B77D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6508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C3132-9069-A4D1-3545-3EAF6C7B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0D6712-72CE-F2EF-8F57-91BD6BA2A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E20695-F811-8EA0-8F13-7B4A073BE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A4844-7BED-45B8-A03B-637C12D178D0}" type="datetimeFigureOut">
              <a:rPr lang="es-ES" smtClean="0"/>
              <a:t>18/09/2026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843980-AA25-5E93-FD66-AB922F1CE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67276C-EBB2-AE86-60FA-423478C3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3C4AB-BECE-4F7E-B191-275FFF3B77D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4751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5ADF94-E8C6-B9E6-3F1E-156E63AB2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03071A-70D3-FDAB-5276-A110C7BC3E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8E86B7-741A-9110-2007-A1C36DF55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25A322-991C-2F66-9EE9-8AC4801F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A4844-7BED-45B8-A03B-637C12D178D0}" type="datetimeFigureOut">
              <a:rPr lang="es-ES" smtClean="0"/>
              <a:t>18/09/2026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71A17D-2540-4283-3934-F4BFE56D9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AE0C89-A8B3-77FD-3F38-9BB54A9B5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3C4AB-BECE-4F7E-B191-275FFF3B77D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9291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D95295-97AD-E236-44AE-6FF029D7B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D2BAC5-3ED0-6C34-5299-7C55923D2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653678-0F9C-FF26-0797-5B8C4FC49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A7DE9CD-A8EC-A052-F5F3-10C86119CA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9EC4FC8-C3C3-6862-52A0-2FAF95DD7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59E479C-5DE0-15B3-3533-C8EC8D05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A4844-7BED-45B8-A03B-637C12D178D0}" type="datetimeFigureOut">
              <a:rPr lang="es-ES" smtClean="0"/>
              <a:t>18/09/2026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5DCE9C4-B4E5-19BE-33EA-49C6BB1B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7742A11-9B6B-6C63-F4B0-86872E8D6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3C4AB-BECE-4F7E-B191-275FFF3B77D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878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B588E4-D18B-57C8-C34F-8C659929F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799DFE-A787-A41F-946A-2A3AA654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A4844-7BED-45B8-A03B-637C12D178D0}" type="datetimeFigureOut">
              <a:rPr lang="es-ES" smtClean="0"/>
              <a:t>18/09/2026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FAC6C66-F643-2620-6F13-865EBB596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C4FE763-11B3-FAD3-D70B-52F231BE7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3C4AB-BECE-4F7E-B191-275FFF3B77D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3625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6CCBA2F-F2D1-12DD-0818-7E6A9DA98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A4844-7BED-45B8-A03B-637C12D178D0}" type="datetimeFigureOut">
              <a:rPr lang="es-ES" smtClean="0"/>
              <a:t>18/09/2026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523205-6B80-880E-0C89-C2886482F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36EC21-0805-5FA5-01F9-AB30DED25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3C4AB-BECE-4F7E-B191-275FFF3B77D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0034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0A2CF-D0C2-98A3-61EA-0462C2146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6DE436-5EFB-B8DC-B595-17730655F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AE5C5D-8647-AF2F-1821-AB9B1F06E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B2E645-A5F4-1520-98D2-450B85532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A4844-7BED-45B8-A03B-637C12D178D0}" type="datetimeFigureOut">
              <a:rPr lang="es-ES" smtClean="0"/>
              <a:t>18/09/2026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BCFDB9-2D23-A773-A79A-D774DAEB1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2E0D53-B061-6055-02B5-DADF95D3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3C4AB-BECE-4F7E-B191-275FFF3B77D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7834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830151-4E76-4B9D-A579-10B744365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73A4CFB-2181-9BDB-BDE6-AD21D6C77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1E0B41-AC6E-544B-3195-A76A04468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C55309-F0DD-E618-1FC6-2AC5A3E0C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A4844-7BED-45B8-A03B-637C12D178D0}" type="datetimeFigureOut">
              <a:rPr lang="es-ES" smtClean="0"/>
              <a:t>18/09/2026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BD4B31-D26F-9D48-14D3-02537F65D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31137B-796F-43EA-F849-1749DA23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3C4AB-BECE-4F7E-B191-275FFF3B77D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9522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7FDAE-6E36-486F-1D1F-7A3D7FBF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D857278-AD0E-5CCB-2834-150D3BC45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8FD5D4-B53F-89E1-7A86-ADC119508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A4844-7BED-45B8-A03B-637C12D178D0}" type="datetimeFigureOut">
              <a:rPr lang="es-ES" smtClean="0"/>
              <a:t>18/09/2026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EE7A4E-9B3F-2065-117B-4AA80A062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682223-C6CB-29A6-ED35-9A5565B11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3C4AB-BECE-4F7E-B191-275FFF3B77D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3990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6CAC541-B4B7-532D-93AD-00636989A5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368CAE-249A-BDA8-6303-79AA811AC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4716FD-1454-02C2-21B3-0FCDAEFBA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A4844-7BED-45B8-A03B-637C12D178D0}" type="datetimeFigureOut">
              <a:rPr lang="es-ES" smtClean="0"/>
              <a:t>18/09/2026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FEB51C-826A-1395-36B0-59B043D06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716ADC-075C-CB7A-F030-F7ABE949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3C4AB-BECE-4F7E-B191-275FFF3B77D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369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75AA47-96AE-A2AA-FDA4-DA72D2421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09FFD3-1195-B627-65C2-318A61EE4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AE42E7-FDFA-A677-0F45-539BBA986F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9A4844-7BED-45B8-A03B-637C12D178D0}" type="datetimeFigureOut">
              <a:rPr lang="es-ES" smtClean="0"/>
              <a:t>18/09/2026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969E28-D443-CF68-2BF7-6685D3A49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23CC09-7092-C04B-4BF7-AF6B55CD5C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93C4AB-BECE-4F7E-B191-275FFF3B77D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74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5EDB9A-8A33-7323-F129-76D7B5B53F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Introducción al diseño de interfaces y aplicaciones  para el diseño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3E8672E-8810-CDF9-CC04-3DA73EF3C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631" y="3533759"/>
            <a:ext cx="6650226" cy="238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27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329F3B0-649D-7CAB-1E43-9B965E70C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057" y="457200"/>
            <a:ext cx="8441871" cy="594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129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251F03-57FF-039D-42FB-06B0CBBFE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185" y="230478"/>
            <a:ext cx="5535385" cy="487733"/>
          </a:xfrm>
        </p:spPr>
        <p:txBody>
          <a:bodyPr>
            <a:normAutofit/>
          </a:bodyPr>
          <a:lstStyle/>
          <a:p>
            <a:pPr algn="ctr"/>
            <a:r>
              <a:rPr lang="es-ES" sz="2400" b="1" dirty="0"/>
              <a:t>Interacción persona-ordenador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EDDD9B-8E7A-EA80-435E-C32B22424DB3}"/>
              </a:ext>
            </a:extLst>
          </p:cNvPr>
          <p:cNvSpPr txBox="1"/>
          <p:nvPr/>
        </p:nvSpPr>
        <p:spPr>
          <a:xfrm>
            <a:off x="691242" y="687433"/>
            <a:ext cx="11266715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interacción persona-ordenador (IPO) estudia cómo las personas y los ordenadores intercambian información, buscando hacer este proceso más eficiente, reduciendo errores y mejorando la satisfacción del usuario.</a:t>
            </a:r>
            <a:endParaRPr lang="es-ES" sz="200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ES" sz="20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1962, Licklider y Clark identificaron 10 problemas clave para mejorar la interacción:</a:t>
            </a:r>
          </a:p>
          <a:p>
            <a:pPr algn="just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Compartir el tiempo de uso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Hacer que muchos usuarios puedan usar un ordenador al mismo tiempo.</a:t>
            </a:r>
          </a:p>
          <a:p>
            <a:pPr algn="just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Sistema de entrada-salida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Facilitar la comunicación mediante datos simbólicos y gráficos.</a:t>
            </a:r>
          </a:p>
          <a:p>
            <a:pPr algn="just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Procesamiento en tiempo real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Crear un sistema interactivo que permita operaciones inmediatas.</a:t>
            </a:r>
          </a:p>
          <a:p>
            <a:pPr algn="just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Almacenamiento masivo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Desarrollar sistemas para almacenar grandes cantidades de información y recuperarla rápidamente.</a:t>
            </a:r>
          </a:p>
          <a:p>
            <a:pPr algn="just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Colaboración en diseño y programación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Facilitar el trabajo en equipo en el desarrollo de grandes sistemas.</a:t>
            </a:r>
          </a:p>
          <a:p>
            <a:pPr algn="just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Reconocimiento de voz y escritura manual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Hacer que los ordenadores reconozcan la voz y la escritura manual.</a:t>
            </a:r>
          </a:p>
          <a:p>
            <a:pPr algn="just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Comprensión del lenguaje natural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Lograr que los ordenadores entiendan el lenguaje humano tanto en su sintaxis como en su significado.</a:t>
            </a:r>
          </a:p>
          <a:p>
            <a:pPr algn="just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Reconocimiento de múltiples voces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Permitir que el ordenador identifique la voz de diferentes usuarios.</a:t>
            </a:r>
          </a:p>
          <a:p>
            <a:pPr algn="just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Teoría de algoritmos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Simplificar el desarrollo y la comprensión de algoritmos.</a:t>
            </a:r>
          </a:p>
          <a:p>
            <a:pPr algn="just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Programación heurística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Desarrollar métodos para programar basados en principios generales o heurísticos.</a:t>
            </a:r>
          </a:p>
        </p:txBody>
      </p:sp>
    </p:spTree>
    <p:extLst>
      <p:ext uri="{BB962C8B-B14F-4D97-AF65-F5344CB8AC3E}">
        <p14:creationId xmlns:p14="http://schemas.microsoft.com/office/powerpoint/2010/main" val="778992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BD83DA-AF2C-162F-598D-310C6FF1B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912"/>
            <a:ext cx="10515600" cy="4448176"/>
          </a:xfrm>
        </p:spPr>
        <p:txBody>
          <a:bodyPr>
            <a:normAutofit fontScale="90000"/>
          </a:bodyPr>
          <a:lstStyle/>
          <a:p>
            <a:r>
              <a:rPr lang="es-ES" sz="3100" b="1" dirty="0"/>
              <a:t>Principios de Diseño de Sistemas Interactivos (Hansen, 1971)</a:t>
            </a:r>
            <a:br>
              <a:rPr lang="es-ES" sz="3100" b="1" dirty="0"/>
            </a:br>
            <a:br>
              <a:rPr lang="es-ES" sz="3100" dirty="0"/>
            </a:br>
            <a:r>
              <a:rPr lang="es-ES" sz="3100" b="1" dirty="0"/>
              <a:t>Conocer al usuario</a:t>
            </a:r>
            <a:r>
              <a:rPr lang="es-ES" sz="3100" dirty="0"/>
              <a:t>: Entender quién usa el sistema.</a:t>
            </a:r>
            <a:br>
              <a:rPr lang="es-ES" sz="3100" dirty="0"/>
            </a:br>
            <a:br>
              <a:rPr lang="es-ES" sz="3100" dirty="0"/>
            </a:br>
            <a:r>
              <a:rPr lang="es-ES" sz="3100" b="1" dirty="0"/>
              <a:t>Reducir la memorización</a:t>
            </a:r>
            <a:r>
              <a:rPr lang="es-ES" sz="3100" dirty="0"/>
              <a:t>: Usar opciones seleccionables y nombres en vez de números, y hacer el sistema predecible.</a:t>
            </a:r>
            <a:br>
              <a:rPr lang="es-ES" sz="3100" dirty="0"/>
            </a:br>
            <a:br>
              <a:rPr lang="es-ES" sz="3100" dirty="0"/>
            </a:br>
            <a:r>
              <a:rPr lang="es-ES" sz="3100" b="1" dirty="0"/>
              <a:t>Optimizar operaciones</a:t>
            </a:r>
            <a:r>
              <a:rPr lang="es-ES" sz="3100" dirty="0"/>
              <a:t>: Acelerar tareas comunes y ajustar el sistema según su uso.</a:t>
            </a:r>
            <a:br>
              <a:rPr lang="es-ES" sz="3100" dirty="0"/>
            </a:br>
            <a:br>
              <a:rPr lang="es-ES" sz="3100" dirty="0"/>
            </a:br>
            <a:r>
              <a:rPr lang="es-ES" sz="3100" b="1" dirty="0"/>
              <a:t>Evitar errores</a:t>
            </a:r>
            <a:r>
              <a:rPr lang="es-ES" sz="3100" dirty="0"/>
              <a:t>: Dar mensajes claros, permitir deshacer acciones y proteger el sistema ante fallos.</a:t>
            </a:r>
            <a:br>
              <a:rPr lang="es-ES" dirty="0"/>
            </a:b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3EE639-90DC-A5E1-1732-F8FC6E72A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772" y="5044816"/>
            <a:ext cx="6188528" cy="121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34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4B8E68-599A-5AE9-A184-6C6C28217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Diseño Gráfico en Interfaces</a:t>
            </a:r>
            <a:endParaRPr lang="es-E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0C92E3B-1BE1-70A6-DEA2-FC6EA399833D}"/>
              </a:ext>
            </a:extLst>
          </p:cNvPr>
          <p:cNvSpPr txBox="1"/>
          <p:nvPr/>
        </p:nvSpPr>
        <p:spPr>
          <a:xfrm>
            <a:off x="619229" y="1449528"/>
            <a:ext cx="113157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diseño gráfico se encarga de crear comunicaciones visuales para aplicaciones o herramientas de software, y los profesionales dedicados a esto son los </a:t>
            </a: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diseñadores gráficos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Tiene tres funciones principales:</a:t>
            </a:r>
          </a:p>
          <a:p>
            <a:pPr algn="just"/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Función estética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ES" sz="20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Hacer que el diseño sea atractivo.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Función publicitaria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ES" sz="20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Captar la atención del usuario.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Función comunicativa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ES" sz="20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Transmitir información de forma clara.</a:t>
            </a:r>
          </a:p>
          <a:p>
            <a:pPr algn="just"/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 interfaz es el conjunto de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elementos gráficos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su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distribución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mejorar la presentación y navegación de una aplicación. Si ambos factores no están bien integrados, un buen resultado será solo fruto de la casualidad.  Los elementos del diseño de interfaces se agrupan en:</a:t>
            </a:r>
          </a:p>
          <a:p>
            <a:pPr algn="ctr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Elementos conceptuales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ctr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Elementos visuales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ctr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Elementos de relación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ctr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Elementos prácticos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6412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22E29F8-C04D-4023-4CA3-4E1ACA3AF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529" y="856428"/>
            <a:ext cx="5600700" cy="257257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84C00A4-B978-4F20-9187-726973A9EA65}"/>
              </a:ext>
            </a:extLst>
          </p:cNvPr>
          <p:cNvSpPr txBox="1"/>
          <p:nvPr/>
        </p:nvSpPr>
        <p:spPr>
          <a:xfrm>
            <a:off x="2560864" y="323578"/>
            <a:ext cx="8069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 ejemplos : un buen y un mal diseño gráfico.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F2A7567-1702-A9D8-78ED-250BA4C56862}"/>
              </a:ext>
            </a:extLst>
          </p:cNvPr>
          <p:cNvSpPr txBox="1"/>
          <p:nvPr/>
        </p:nvSpPr>
        <p:spPr>
          <a:xfrm>
            <a:off x="832757" y="3621064"/>
            <a:ext cx="106952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Estas figuras se  comparan dos interfaces de una misma aplicación. La de la izquierda tiene un mal diseño, con texto e imágenes poco claros y una distribución confusa. En cambio, la de la derecha ofrece una navegación más intuitiva y satisfactoria, con elementos bien organizados y sin sobrecarga.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0F19DBC-CC69-5017-1704-9F850231C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344" y="4859686"/>
            <a:ext cx="6645728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036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C446179-24B2-0943-3B8D-58F20B7CC9FF}"/>
              </a:ext>
            </a:extLst>
          </p:cNvPr>
          <p:cNvSpPr txBox="1"/>
          <p:nvPr/>
        </p:nvSpPr>
        <p:spPr>
          <a:xfrm>
            <a:off x="473529" y="519224"/>
            <a:ext cx="111197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dirty="0"/>
              <a:t>Al desarrollar una aplicación y su interfaz, se deben seguir varias fases, desde definir los objetivos hasta el diseño visual, pasando por las especificaciones funcionales y otros aspectos clave.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F7BB1A-B007-8C54-B639-00AF689B6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29" y="2226325"/>
            <a:ext cx="3716634" cy="411245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CBB5016-7535-F035-773C-9097564F19B7}"/>
              </a:ext>
            </a:extLst>
          </p:cNvPr>
          <p:cNvSpPr txBox="1"/>
          <p:nvPr/>
        </p:nvSpPr>
        <p:spPr>
          <a:xfrm>
            <a:off x="473529" y="1579994"/>
            <a:ext cx="35707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Planos de jerarquía de diseño de una aplicación.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2778096-AFCA-B4F3-044F-24A386EAEABA}"/>
              </a:ext>
            </a:extLst>
          </p:cNvPr>
          <p:cNvSpPr txBox="1"/>
          <p:nvPr/>
        </p:nvSpPr>
        <p:spPr>
          <a:xfrm>
            <a:off x="4363812" y="1351508"/>
            <a:ext cx="722947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 desarrollar una aplicación, primero se identifican las tareas y se definen los </a:t>
            </a:r>
            <a:r>
              <a:rPr lang="es-ES" sz="22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objetos</a:t>
            </a:r>
            <a:r>
              <a:rPr lang="es-ES" sz="22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ES" sz="22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acciones</a:t>
            </a:r>
            <a:r>
              <a:rPr lang="es-E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similar a las clases en programación orientada a objetos. Se recomienda un </a:t>
            </a:r>
            <a:r>
              <a:rPr lang="es-ES" sz="22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modelado textual</a:t>
            </a:r>
            <a:r>
              <a:rPr lang="es-ES" sz="22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donde los </a:t>
            </a:r>
            <a:r>
              <a:rPr lang="es-ES" sz="22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sustantivos</a:t>
            </a:r>
            <a:r>
              <a:rPr lang="es-E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representan los objetos y los </a:t>
            </a:r>
            <a:r>
              <a:rPr lang="es-ES" sz="22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verbos</a:t>
            </a:r>
            <a:r>
              <a:rPr lang="es-E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las acciones.</a:t>
            </a:r>
          </a:p>
          <a:p>
            <a:pPr algn="just"/>
            <a:endParaRPr lang="es-E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E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tipos de objetos se clasifican en:</a:t>
            </a:r>
          </a:p>
          <a:p>
            <a:pPr algn="just"/>
            <a:r>
              <a:rPr lang="es-E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</a:t>
            </a:r>
            <a:r>
              <a:rPr lang="es-E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Objetos origen</a:t>
            </a:r>
            <a:r>
              <a:rPr lang="es-E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elementos que se pueden mover y colocar en otros lugares.</a:t>
            </a:r>
          </a:p>
          <a:p>
            <a:pPr algn="just"/>
            <a:r>
              <a:rPr lang="es-E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</a:t>
            </a:r>
            <a:r>
              <a:rPr lang="es-E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Objetos destino</a:t>
            </a:r>
            <a:r>
              <a:rPr lang="es-E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elementos que reciben los objetos origen.</a:t>
            </a:r>
          </a:p>
          <a:p>
            <a:pPr algn="just"/>
            <a:r>
              <a:rPr lang="es-E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</a:t>
            </a:r>
            <a:r>
              <a:rPr lang="es-E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Objetos de la aplicación</a:t>
            </a:r>
            <a:r>
              <a:rPr lang="es-E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elementos que no permiten interacción directa con el usuario.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045B7A3-408F-EDDB-C689-D2F5D6C48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782" y="5506492"/>
            <a:ext cx="4473328" cy="10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101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D152CC6-071D-6FAB-7836-867B24969775}"/>
              </a:ext>
            </a:extLst>
          </p:cNvPr>
          <p:cNvSpPr txBox="1"/>
          <p:nvPr/>
        </p:nvSpPr>
        <p:spPr>
          <a:xfrm>
            <a:off x="457200" y="751344"/>
            <a:ext cx="604157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/>
              <a:t>Diseño de Interfaces</a:t>
            </a:r>
            <a:r>
              <a:rPr lang="es-ES" dirty="0"/>
              <a:t>: Es crucial considerar la pantalla donde se mostrará la interfaz, analizando el diseño gráfico, </a:t>
            </a:r>
            <a:r>
              <a:rPr lang="es-ES" dirty="0">
                <a:highlight>
                  <a:srgbClr val="FFFF00"/>
                </a:highlight>
              </a:rPr>
              <a:t>la colocación de íconos, textos y dispositivos de interacción</a:t>
            </a:r>
            <a:r>
              <a:rPr lang="es-ES" dirty="0"/>
              <a:t>. Al finalizar, se debe revisar para identificar y corregir problemas.</a:t>
            </a:r>
          </a:p>
          <a:p>
            <a:pPr algn="just"/>
            <a:endParaRPr lang="es-ES" dirty="0"/>
          </a:p>
          <a:p>
            <a:pPr algn="just"/>
            <a:r>
              <a:rPr lang="es-ES" b="1" dirty="0"/>
              <a:t>Tiempo de Respuesta</a:t>
            </a:r>
            <a:r>
              <a:rPr lang="es-ES" dirty="0"/>
              <a:t>: Se refiere al tiempo que toma completar una acción. Debe ser balanceado: demasiado </a:t>
            </a:r>
            <a:r>
              <a:rPr lang="es-ES" dirty="0">
                <a:highlight>
                  <a:srgbClr val="FFFF00"/>
                </a:highlight>
              </a:rPr>
              <a:t>corto puede llevar a confusión, y demasiado largo puede frustrar al usuario.</a:t>
            </a:r>
          </a:p>
          <a:p>
            <a:pPr algn="just"/>
            <a:endParaRPr lang="es-ES" dirty="0"/>
          </a:p>
          <a:p>
            <a:pPr algn="just"/>
            <a:r>
              <a:rPr lang="es-ES" b="1" dirty="0"/>
              <a:t>Servicios de Ayuda</a:t>
            </a:r>
            <a:r>
              <a:rPr lang="es-ES" dirty="0"/>
              <a:t>: Hay ayudas integradas que ofrecen </a:t>
            </a:r>
            <a:r>
              <a:rPr lang="es-ES" dirty="0">
                <a:highlight>
                  <a:srgbClr val="FFFF00"/>
                </a:highlight>
              </a:rPr>
              <a:t>sugerencias automáticas y ayudas complementarias como manuales</a:t>
            </a:r>
            <a:r>
              <a:rPr lang="es-ES" dirty="0"/>
              <a:t>, que permiten buscar información específica.</a:t>
            </a:r>
          </a:p>
          <a:p>
            <a:pPr algn="just"/>
            <a:endParaRPr lang="es-ES" dirty="0"/>
          </a:p>
          <a:p>
            <a:pPr algn="just"/>
            <a:r>
              <a:rPr lang="es-ES" b="1" dirty="0"/>
              <a:t>Etiquetado de Órdenes</a:t>
            </a:r>
            <a:r>
              <a:rPr lang="es-ES" dirty="0"/>
              <a:t>: Implica un diseño claro para la </a:t>
            </a:r>
            <a:r>
              <a:rPr lang="es-ES" dirty="0">
                <a:highlight>
                  <a:srgbClr val="FFFF00"/>
                </a:highlight>
              </a:rPr>
              <a:t>nomenclatura de acciones</a:t>
            </a:r>
            <a:r>
              <a:rPr lang="es-ES" dirty="0"/>
              <a:t>, incluyendo nombres adecuados para funciones y atajos de teclado fáciles de recordar.</a:t>
            </a:r>
          </a:p>
        </p:txBody>
      </p:sp>
      <p:pic>
        <p:nvPicPr>
          <p:cNvPr id="3074" name="Picture 2" descr="Interfaz de usuario: Qué es y cómo diseñar una UI | OVACEN">
            <a:extLst>
              <a:ext uri="{FF2B5EF4-FFF2-40B4-BE49-F238E27FC236}">
                <a16:creationId xmlns:a16="http://schemas.microsoft.com/office/drawing/2014/main" id="{776474BE-7134-1576-B502-335249B42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099" y="854110"/>
            <a:ext cx="5011198" cy="5074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4727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86A6D-A045-B9E9-ECB1-B8E6F422A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1272" y="0"/>
            <a:ext cx="6890658" cy="1325563"/>
          </a:xfrm>
        </p:spPr>
        <p:txBody>
          <a:bodyPr/>
          <a:lstStyle/>
          <a:p>
            <a:r>
              <a:rPr lang="es-ES" dirty="0"/>
              <a:t>Herramientas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361B670-98CD-AD46-3135-59C9462A02DA}"/>
              </a:ext>
            </a:extLst>
          </p:cNvPr>
          <p:cNvSpPr txBox="1"/>
          <p:nvPr/>
        </p:nvSpPr>
        <p:spPr>
          <a:xfrm>
            <a:off x="4294413" y="1174714"/>
            <a:ext cx="772341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primer paso en el diseño de una interfaz es crear un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prototipo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lo cual acelera el desarrollo de la aplicación. Se utilizan herramientas para construir elementos como ventanas, menús y diálogos.</a:t>
            </a:r>
          </a:p>
          <a:p>
            <a:pPr algn="just"/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Evaluación del Diseño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just">
              <a:buFont typeface="+mj-lt"/>
              <a:buAutoNum type="arabicPeriod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Se recoge la satisfacción del usuario mediante formularios cuantitativos o cualitativos, midiendo tiempo de aprendizaje y uso de ayuda.</a:t>
            </a:r>
          </a:p>
          <a:p>
            <a:pPr algn="just">
              <a:buFont typeface="+mj-lt"/>
              <a:buAutoNum type="arabicPeriod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Se analiza si la interfaz cumple con los requisitos iniciales.</a:t>
            </a:r>
          </a:p>
          <a:p>
            <a:pPr algn="just">
              <a:buFont typeface="+mj-lt"/>
              <a:buAutoNum type="arabicPeriod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Si no se cumplen las expectativas, se revisa y corrige hasta que se alcancen los estándares deseados.</a:t>
            </a:r>
          </a:p>
          <a:p>
            <a:pPr algn="just">
              <a:buFont typeface="+mj-lt"/>
              <a:buAutoNum type="arabicPeriod"/>
            </a:pPr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herramientas para desarrollar entornos gráficos se dividen en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comerciales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(como las de Microsoft y Borland) y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libres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4098" name="Picture 2" descr="Las 14 Mejores Herramientas De Diseño De Interfaz | DWB">
            <a:extLst>
              <a:ext uri="{FF2B5EF4-FFF2-40B4-BE49-F238E27FC236}">
                <a16:creationId xmlns:a16="http://schemas.microsoft.com/office/drawing/2014/main" id="{1924690C-4FDB-9C9E-55F8-E6181AC76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71" y="924448"/>
            <a:ext cx="4036088" cy="496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6665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D4E43-3D32-FC9D-1304-8BB2447FE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Prototipos.</a:t>
            </a:r>
            <a:br>
              <a:rPr lang="es-ES" dirty="0"/>
            </a:br>
            <a:r>
              <a:rPr lang="es-ES" dirty="0"/>
              <a:t>Elementos clave de un prototipo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107F603-A1BF-DEC9-1ED8-20931AEE0AE9}"/>
              </a:ext>
            </a:extLst>
          </p:cNvPr>
          <p:cNvSpPr txBox="1"/>
          <p:nvPr/>
        </p:nvSpPr>
        <p:spPr>
          <a:xfrm>
            <a:off x="473529" y="1785484"/>
            <a:ext cx="701249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prototipo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 un modelo que permite visualizar el diseño final de un producto. Facilita comprobar funcionalidades y realizar pruebas de usabilidad, lo que ahorra tiempo y costos al permitir hacer cambios antes de finalizar el diseño.</a:t>
            </a:r>
          </a:p>
          <a:p>
            <a:pPr algn="just"/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Ventajas del uso de prototipos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just"/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Mejora la velocidad de desarrollo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Hacer cambios en un prototipo es más eficiente que en un diseño definitivo, evitando que el cliente se distraiga con detalles como colores y tipografías.</a:t>
            </a:r>
          </a:p>
          <a:p>
            <a:pPr algn="just"/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Involucra al cliente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Es más fácil proponer y realizar cambios sobre un esquema con poco detalle que sobre un diseño ya acabado, lo que facilita la participación del cliente en esta fase.</a:t>
            </a:r>
          </a:p>
        </p:txBody>
      </p:sp>
      <p:pic>
        <p:nvPicPr>
          <p:cNvPr id="5122" name="Picture 2" descr="Resultado de imagen de proptotipos de diseño de interfaces">
            <a:extLst>
              <a:ext uri="{FF2B5EF4-FFF2-40B4-BE49-F238E27FC236}">
                <a16:creationId xmlns:a16="http://schemas.microsoft.com/office/drawing/2014/main" id="{86C68BFD-4E84-782E-845C-A74BB7840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5944" y="2227700"/>
            <a:ext cx="3412671" cy="255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175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6EDE41-4F02-BE8E-FE4E-74D03D61A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43" y="826638"/>
            <a:ext cx="11478986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Existen varios tipos de esquemas de prototipo, incluyendo 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sketches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wireframes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mockups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Según Daniel Torres Burriel, se pueden clasificar en tres tipos: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Sketching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Dibujo inicial en papel de toda la interfaz y las relaciones entre pantallas, estableciendo la jerarquía de contenidos sin detalles de diseño.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Wireframing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Representación más detallada de las pantallas y disposición de elementos (puede ser en papel o digital), validando la organización de contenidos con el cliente.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Prototipado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Diseño digital que simula la interacción entre pantallas, permitiendo pruebas de usuario y evaluación de la funcionalidad antes del desarrollo completo. Se clasifica en:</a:t>
            </a:r>
          </a:p>
          <a:p>
            <a:pPr marL="457200" marR="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Horizontal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Muchas características, pocos detalles.</a:t>
            </a:r>
          </a:p>
          <a:p>
            <a:pPr marL="457200" marR="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Pocas características, más detalles.</a:t>
            </a:r>
          </a:p>
          <a:p>
            <a:pPr marL="457200" marR="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Diagonal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Combinación de ambos tipos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74B71C-D410-DAF9-7F7B-D4F944B4F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2772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6EB92-3DA9-A2DA-A7FF-DE02C336C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635" y="371789"/>
            <a:ext cx="10084358" cy="1446962"/>
          </a:xfrm>
        </p:spPr>
        <p:txBody>
          <a:bodyPr>
            <a:normAutofit/>
          </a:bodyPr>
          <a:lstStyle/>
          <a:p>
            <a:r>
              <a:rPr lang="es-ES" sz="3200" dirty="0"/>
              <a:t>SKETCHING,  WIREFRAMING y MOCKUP </a:t>
            </a:r>
            <a:br>
              <a:rPr lang="es-ES" sz="3200" dirty="0"/>
            </a:br>
            <a:r>
              <a:rPr lang="es-ES" sz="1600" dirty="0"/>
              <a:t>Imagina que vas a crear una </a:t>
            </a:r>
            <a:r>
              <a:rPr lang="es-ES" sz="1600" b="1" dirty="0"/>
              <a:t>app de recetas de cocina</a:t>
            </a:r>
            <a:endParaRPr lang="es-ES" sz="1600" dirty="0"/>
          </a:p>
        </p:txBody>
      </p:sp>
      <p:pic>
        <p:nvPicPr>
          <p:cNvPr id="13" name="Imagen 12" descr="Resultado de imagen de SKETCHING,  WIREFRAMING y MOCKUP">
            <a:extLst>
              <a:ext uri="{FF2B5EF4-FFF2-40B4-BE49-F238E27FC236}">
                <a16:creationId xmlns:a16="http://schemas.microsoft.com/office/drawing/2014/main" id="{EF74FFF5-90A9-F2D3-0F20-B3C125164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121" y="2354697"/>
            <a:ext cx="7084088" cy="345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793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309E4A-DB18-98FB-0507-21EC42E8F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89" y="197345"/>
            <a:ext cx="10820400" cy="755550"/>
          </a:xfrm>
        </p:spPr>
        <p:txBody>
          <a:bodyPr/>
          <a:lstStyle/>
          <a:p>
            <a:r>
              <a:rPr lang="es-ES" b="1" dirty="0"/>
              <a:t>Aplicaciones para el desarrollo de interfaces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4034550-612D-4E91-A362-EA3B8BAA6E33}"/>
              </a:ext>
            </a:extLst>
          </p:cNvPr>
          <p:cNvSpPr txBox="1"/>
          <p:nvPr/>
        </p:nvSpPr>
        <p:spPr>
          <a:xfrm>
            <a:off x="685800" y="952895"/>
            <a:ext cx="108204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diseño del prototipo debe basarse en:</a:t>
            </a:r>
          </a:p>
          <a:p>
            <a:pPr algn="just"/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Identificación de elementos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Reconocer qué componentes forman cada pantalla de la aplicación.</a:t>
            </a:r>
          </a:p>
          <a:p>
            <a:pPr algn="just">
              <a:buFont typeface="+mj-lt"/>
              <a:buAutoNum type="arabicPeriod"/>
            </a:pP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Distribución de elementos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Evitar la saturación de elementos, garantizando suficiente información y correcta interacción.</a:t>
            </a:r>
          </a:p>
          <a:p>
            <a:pPr algn="just">
              <a:buFont typeface="+mj-lt"/>
              <a:buAutoNum type="arabicPeriod"/>
            </a:pP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Organización jerárquica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Establecer el orden y disposición de los elementos.</a:t>
            </a:r>
          </a:p>
          <a:p>
            <a:pPr algn="just">
              <a:buFont typeface="+mj-lt"/>
              <a:buAutoNum type="arabicPeriod"/>
            </a:pP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Extensión adecuada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Aprovechar el espacio según el dispositivo.</a:t>
            </a:r>
          </a:p>
          <a:p>
            <a:pPr algn="just">
              <a:buFont typeface="+mj-lt"/>
              <a:buAutoNum type="arabicPeriod"/>
            </a:pP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Patrones de diseño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Estandarizar el diseño de interfaces.</a:t>
            </a:r>
          </a:p>
          <a:p>
            <a:pPr algn="just">
              <a:buFont typeface="+mj-lt"/>
              <a:buAutoNum type="arabicPeriod"/>
            </a:pP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Usabilidad y accesibilidad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Considerar aspectos técnicos que faciliten el uso y acceso a la interfaz.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5D8FDDD-8301-3DFD-E20E-CDF9BD5780CB}"/>
              </a:ext>
            </a:extLst>
          </p:cNvPr>
          <p:cNvSpPr txBox="1"/>
          <p:nvPr/>
        </p:nvSpPr>
        <p:spPr>
          <a:xfrm>
            <a:off x="3620860" y="5657568"/>
            <a:ext cx="83316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Realiza un primer prototipo en el que definirás el funcionamiento de una aplicación. A lo lardo del módulo adquirirás herramientas para poder implementarla tanto gráfica como funcionalmente. Por ejemplo, una calculadora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DF61E70-F9A5-F916-7C71-B55214171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861" y="5257462"/>
            <a:ext cx="2734057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835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28CC91D-66BE-6D9A-BC75-EAF446D84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464" y="840921"/>
            <a:ext cx="8899071" cy="517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408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88D2541-A003-D1A0-8A5F-70271259C615}"/>
              </a:ext>
            </a:extLst>
          </p:cNvPr>
          <p:cNvSpPr txBox="1"/>
          <p:nvPr/>
        </p:nvSpPr>
        <p:spPr>
          <a:xfrm>
            <a:off x="985157" y="243512"/>
            <a:ext cx="1022168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Ventajas de herramientas basadas en componentes visuales para el desarrollo de interfaces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Reutilización de código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Facilita el desarrollo de nuevos proyectos sin repetir código ya probado.</a:t>
            </a:r>
          </a:p>
          <a:p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Herramientas populares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Studio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Soporta múltiples lenguajes (C#, HTML5, CSS, JavaScript, etc.).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Ofrece autocompletado y detección de errores en tiempo real.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Permite depuración paso a paso y gestión de código en repositorios (GIT, GitHub, Azure DevOps).</a:t>
            </a:r>
          </a:p>
          <a:p>
            <a:pPr marL="742950" lvl="1" indent="-285750">
              <a:buFont typeface="+mj-lt"/>
              <a:buAutoNum type="arabicPeriod"/>
            </a:pPr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Monodevelop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 libre y gratuito.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Soporta lenguajes como C#, Java, .NET y Python.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 funcionalidades de depuración y gestión de proyectos.</a:t>
            </a:r>
          </a:p>
        </p:txBody>
      </p:sp>
    </p:spTree>
    <p:extLst>
      <p:ext uri="{BB962C8B-B14F-4D97-AF65-F5344CB8AC3E}">
        <p14:creationId xmlns:p14="http://schemas.microsoft.com/office/powerpoint/2010/main" val="4277975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BDA6F-A672-BB55-9C71-0793EDE1E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S" b="1" dirty="0"/>
              <a:t>Herramientas para la creación de interfaces gráficas</a:t>
            </a:r>
            <a:r>
              <a:rPr lang="es-ES" dirty="0"/>
              <a:t>:</a:t>
            </a:r>
            <a:br>
              <a:rPr lang="es-ES" dirty="0"/>
            </a:b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AF9CFE2-4571-EAB4-596D-9D71850CE8CB}"/>
              </a:ext>
            </a:extLst>
          </p:cNvPr>
          <p:cNvSpPr txBox="1"/>
          <p:nvPr/>
        </p:nvSpPr>
        <p:spPr>
          <a:xfrm>
            <a:off x="1518557" y="1690688"/>
            <a:ext cx="9372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s-ES" b="1" dirty="0" err="1"/>
              <a:t>Glade</a:t>
            </a:r>
            <a:r>
              <a:rPr lang="es-ES" dirty="0"/>
              <a:t>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s-ES" dirty="0"/>
              <a:t>Permite crear interfaces gráficas de usuario, especialmente en entornos XML.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s-ES" dirty="0"/>
              <a:t>Soporta lenguajes como C, C++, C#, Java y Python.</a:t>
            </a:r>
          </a:p>
          <a:p>
            <a:pPr algn="just">
              <a:buFont typeface="+mj-lt"/>
              <a:buAutoNum type="arabicPeriod"/>
            </a:pPr>
            <a:r>
              <a:rPr lang="es-ES" b="1" dirty="0"/>
              <a:t>NetBeans</a:t>
            </a:r>
            <a:r>
              <a:rPr lang="es-ES" dirty="0"/>
              <a:t>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s-ES" dirty="0"/>
              <a:t>IDE de código abierto popular para desarrollar interfaces en Java.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s-ES" dirty="0"/>
              <a:t>Permite extender su funcionalidad con módulos que interactúan con las API de NetBeans.</a:t>
            </a:r>
          </a:p>
          <a:p>
            <a:pPr algn="just">
              <a:buFont typeface="+mj-lt"/>
              <a:buAutoNum type="arabicPeriod"/>
            </a:pPr>
            <a:r>
              <a:rPr lang="es-ES" b="1" dirty="0"/>
              <a:t>Eclipse</a:t>
            </a:r>
            <a:r>
              <a:rPr lang="es-ES" dirty="0"/>
              <a:t>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s-ES" dirty="0"/>
              <a:t>Entorno de desarrollo de código abierto y multiplataforma.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s-ES" dirty="0"/>
              <a:t>Ofrece </a:t>
            </a:r>
            <a:r>
              <a:rPr lang="es-ES" b="1" dirty="0" err="1"/>
              <a:t>Graphical</a:t>
            </a:r>
            <a:r>
              <a:rPr lang="es-ES" b="1" dirty="0"/>
              <a:t> </a:t>
            </a:r>
            <a:r>
              <a:rPr lang="es-ES" b="1" dirty="0" err="1"/>
              <a:t>Layout</a:t>
            </a:r>
            <a:r>
              <a:rPr lang="es-ES" dirty="0"/>
              <a:t> para diseñar componentes visuales de manera intuitiva y rápida.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s-ES" dirty="0"/>
              <a:t>Incluye </a:t>
            </a:r>
            <a:r>
              <a:rPr lang="es-ES" b="1" dirty="0" err="1"/>
              <a:t>Palette</a:t>
            </a:r>
            <a:r>
              <a:rPr lang="es-ES" dirty="0"/>
              <a:t> para crear botones, cuadros de texto, cuadrículas e insertar imágenes.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3139B0D-5B40-38BE-CFA8-43A6A317D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381" y="5454505"/>
            <a:ext cx="3238952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797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E4E90-458F-AE85-1990-DAB18AA2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Planteamiento y diseño de una interfaz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0DC7C8-962C-448B-6C52-1A7F3B472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544" y="1179512"/>
            <a:ext cx="5573031" cy="1325563"/>
          </a:xfrm>
        </p:spPr>
        <p:txBody>
          <a:bodyPr/>
          <a:lstStyle/>
          <a:p>
            <a:pPr algn="ctr"/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Elementos clave para crear el prototipo de una interfaz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A1DB70-AFF1-221C-4DD7-DEFADC7DB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4544" y="2505075"/>
            <a:ext cx="5671456" cy="368458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Elementos clave para crear el prototipo de una interfaz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just">
              <a:buFont typeface="+mj-lt"/>
              <a:buAutoNum type="arabicPeriod"/>
            </a:pPr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Elementos de la aplicación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Deben ser suficientes sin saturar la interfaz.</a:t>
            </a:r>
          </a:p>
          <a:p>
            <a:pPr algn="just">
              <a:buFont typeface="+mj-lt"/>
              <a:buAutoNum type="arabicPeriod"/>
            </a:pPr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Extensión de la aplicación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Considerar el espacio que ocupará.</a:t>
            </a:r>
          </a:p>
          <a:p>
            <a:pPr algn="just">
              <a:buFont typeface="+mj-lt"/>
              <a:buAutoNum type="arabicPeriod"/>
            </a:pPr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Patrones de diseño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Utilizar para estandarizar el diseño de interfaces.</a:t>
            </a:r>
          </a:p>
          <a:p>
            <a:pPr algn="just">
              <a:buFont typeface="+mj-lt"/>
              <a:buAutoNum type="arabicPeriod"/>
            </a:pPr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Usabilidad y accesibilidad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Asegurar aspectos técnicos que faciliten el uso y acceso.</a:t>
            </a:r>
          </a:p>
          <a:p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2C2FDB7-6697-F0D2-A5C4-5983728A5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894614" cy="823912"/>
          </a:xfrm>
        </p:spPr>
        <p:txBody>
          <a:bodyPr/>
          <a:lstStyle/>
          <a:p>
            <a:r>
              <a:rPr lang="es-ES" dirty="0"/>
              <a:t>Pasos para un buen Diseño</a:t>
            </a:r>
          </a:p>
          <a:p>
            <a:endParaRPr lang="es-ES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88FFB3E4-0F94-FAD9-4C69-B22A649CA08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434606" y="3006726"/>
            <a:ext cx="5332850" cy="2013043"/>
          </a:xfrm>
        </p:spPr>
      </p:pic>
    </p:spTree>
    <p:extLst>
      <p:ext uri="{BB962C8B-B14F-4D97-AF65-F5344CB8AC3E}">
        <p14:creationId xmlns:p14="http://schemas.microsoft.com/office/powerpoint/2010/main" val="2279157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C8C08-0749-E74C-39D3-37592946A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3337"/>
            <a:ext cx="10515600" cy="826861"/>
          </a:xfrm>
        </p:spPr>
        <p:txBody>
          <a:bodyPr/>
          <a:lstStyle/>
          <a:p>
            <a:r>
              <a:rPr lang="es-ES" b="1" dirty="0"/>
              <a:t>Pasos para el diseño de un sitio web</a:t>
            </a:r>
            <a:r>
              <a:rPr lang="es-ES" dirty="0"/>
              <a:t>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AB14CB6-9712-3C4F-C97D-6C1F0FFAFD37}"/>
              </a:ext>
            </a:extLst>
          </p:cNvPr>
          <p:cNvSpPr txBox="1"/>
          <p:nvPr/>
        </p:nvSpPr>
        <p:spPr>
          <a:xfrm>
            <a:off x="838200" y="860198"/>
            <a:ext cx="1051560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Área de redacción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Define los pilares y el objetivo de la aplicación (ej. venta de neumáticos vs. entradas de conciertos).</a:t>
            </a:r>
          </a:p>
          <a:p>
            <a:pPr>
              <a:buFont typeface="+mj-lt"/>
              <a:buAutoNum type="arabicPeriod"/>
            </a:pPr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Área de producción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Alinea el proyecto con el mercado actual, considerando: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Cliente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Quien encarga el proyecto.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Usuario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Público objetivo.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Presupuesto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Fondos disponibles.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 de trabajo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Calendario y tareas.</a:t>
            </a:r>
          </a:p>
          <a:p>
            <a:pPr lvl="1"/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Área técnica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Los técnicos estudian los requisitos del proyecto (HTML, CSS, bases de datos) y desarrollan los primeros prototipos, basándose en </a:t>
            </a:r>
            <a:r>
              <a:rPr lang="es-ES" sz="2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sketching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ES" sz="2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wireframing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hasta llegar al producto final.</a:t>
            </a:r>
          </a:p>
          <a:p>
            <a:pPr>
              <a:buFont typeface="+mj-lt"/>
              <a:buAutoNum type="arabicPeriod"/>
            </a:pPr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Área artística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Se enfoca en la estética y el estilo visual, considerando los informes de usuario y requisitos del cliente, dotando a la aplicación de una identidad propia</a:t>
            </a:r>
            <a:r>
              <a:rPr lang="es-ES" dirty="0"/>
              <a:t>.</a:t>
            </a:r>
          </a:p>
          <a:p>
            <a:pPr>
              <a:buFont typeface="+mj-lt"/>
              <a:buAutoNum type="arabicPeriod"/>
            </a:pP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2A30118-F346-213B-C547-D8D46A5215D0}"/>
              </a:ext>
            </a:extLst>
          </p:cNvPr>
          <p:cNvSpPr txBox="1"/>
          <p:nvPr/>
        </p:nvSpPr>
        <p:spPr>
          <a:xfrm>
            <a:off x="3865788" y="5472710"/>
            <a:ext cx="80703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/>
              <a:t>Actividad propuesta</a:t>
            </a:r>
            <a:r>
              <a:rPr lang="es-ES" dirty="0"/>
              <a:t>: Qué crees que ocurriría si en el diseño de una aplicación solo se llevase a cabo el primer paso, de definición del propósito final, y el último, ¿de desarrollo e implementación? ¿Crees que se podría ahorrar tiempo al suprimir los dos pasos intermedios?</a:t>
            </a:r>
          </a:p>
        </p:txBody>
      </p:sp>
    </p:spTree>
    <p:extLst>
      <p:ext uri="{BB962C8B-B14F-4D97-AF65-F5344CB8AC3E}">
        <p14:creationId xmlns:p14="http://schemas.microsoft.com/office/powerpoint/2010/main" val="3813964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4F450-E94D-F8E9-8C42-2A61B70B3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215243" cy="1055461"/>
          </a:xfrm>
        </p:spPr>
        <p:txBody>
          <a:bodyPr/>
          <a:lstStyle/>
          <a:p>
            <a:r>
              <a:rPr lang="es-ES" b="1" dirty="0"/>
              <a:t>COLOR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F58C0A7-E042-364B-748C-62874DBE0558}"/>
              </a:ext>
            </a:extLst>
          </p:cNvPr>
          <p:cNvSpPr txBox="1"/>
          <p:nvPr/>
        </p:nvSpPr>
        <p:spPr>
          <a:xfrm>
            <a:off x="3735160" y="231135"/>
            <a:ext cx="81030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ojo humano percibe colores aditivos, como el azul (B), rojo (R) y verde (G), que al combinarse generan el resto de los colores. En este apartado, se analizará el sistema de representación RGB y las propiedades principales del color que modifican este sistema base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0B9E36B-63E3-ED7E-43BB-3095CB37C0B6}"/>
              </a:ext>
            </a:extLst>
          </p:cNvPr>
          <p:cNvSpPr txBox="1"/>
          <p:nvPr/>
        </p:nvSpPr>
        <p:spPr>
          <a:xfrm>
            <a:off x="653823" y="2101334"/>
            <a:ext cx="2583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dirty="0"/>
              <a:t>Sistema RGB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191A05-ED3D-E458-F00E-1C9FF68ED32C}"/>
              </a:ext>
            </a:extLst>
          </p:cNvPr>
          <p:cNvSpPr txBox="1"/>
          <p:nvPr/>
        </p:nvSpPr>
        <p:spPr>
          <a:xfrm>
            <a:off x="3735160" y="1972466"/>
            <a:ext cx="8103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sistema RGB (Red-Green-Blue) permite que un ordenador represente todos los colores combinando proporciones de estos tres colores aditivos. Cada uno se codifica con 8 bits, lo que da 256 posibles valores por color. Así, la paleta de colores total es de 16,777,216 combinaciones. Los colores se pueden representar en decimal (0 a 255) o hexadecimal, utilizando 8 bits por color.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18B06B9-9AAD-EE5B-C72A-FB72570E2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23" y="4632194"/>
            <a:ext cx="1695687" cy="172426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4DEF289-8789-6628-243E-D55285120263}"/>
              </a:ext>
            </a:extLst>
          </p:cNvPr>
          <p:cNvSpPr txBox="1"/>
          <p:nvPr/>
        </p:nvSpPr>
        <p:spPr>
          <a:xfrm>
            <a:off x="353787" y="3708864"/>
            <a:ext cx="32221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/>
              <a:t>Círculo de colores aditivos en Sistema RGB y combinación de ellos.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F04D9CB-2400-F5D8-E3EA-81D9B4DE1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614" y="4170528"/>
            <a:ext cx="4849586" cy="21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79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8BEDF-7C55-16B0-13E3-231C37C02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7" y="218169"/>
            <a:ext cx="6003471" cy="1039132"/>
          </a:xfrm>
        </p:spPr>
        <p:txBody>
          <a:bodyPr/>
          <a:lstStyle/>
          <a:p>
            <a:r>
              <a:rPr lang="es-ES" b="1" dirty="0"/>
              <a:t>Matiz, saturación y brillo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9E1DEBA-FAFD-165D-933E-11502D2CCB4D}"/>
              </a:ext>
            </a:extLst>
          </p:cNvPr>
          <p:cNvSpPr txBox="1"/>
          <p:nvPr/>
        </p:nvSpPr>
        <p:spPr>
          <a:xfrm>
            <a:off x="261257" y="1443841"/>
            <a:ext cx="7968343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Además del valor en la escala RGB, los colores se distinguen por tres propiedades clave:</a:t>
            </a:r>
          </a:p>
          <a:p>
            <a:pPr algn="just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Matiz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Diferencia un color de otro, siendo los matices primarios el rojo, verde y azul. Los colores complementarios se ubican opuestos en el círculo cromático.</a:t>
            </a:r>
          </a:p>
          <a:p>
            <a:pPr algn="just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Saturación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Indica la intensidad de un color, que disminuye con la cantidad de gris presente. Cuanto más gris, menos saturado será el color y menor su intensidad.</a:t>
            </a:r>
          </a:p>
          <a:p>
            <a:pPr algn="just">
              <a:buFont typeface="+mj-lt"/>
              <a:buAutoNum type="arabicPeriod"/>
            </a:pP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Brillo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(pendiente de mención, pero normalmente hace referencia a la luminosidad o claridad de un color).</a:t>
            </a:r>
          </a:p>
          <a:p>
            <a:pPr>
              <a:buFont typeface="+mj-lt"/>
              <a:buAutoNum type="arabicPeriod"/>
            </a:pP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8FC86C9-D80D-7903-50A2-F042A715B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534" y="591234"/>
            <a:ext cx="1752845" cy="170521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22402DB-419E-F0B3-89E7-329148808E2E}"/>
              </a:ext>
            </a:extLst>
          </p:cNvPr>
          <p:cNvSpPr txBox="1"/>
          <p:nvPr/>
        </p:nvSpPr>
        <p:spPr>
          <a:xfrm>
            <a:off x="7792129" y="218169"/>
            <a:ext cx="3759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Círculo cromático de matices.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27F1A78-E157-FCEE-A5F2-C92A63918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23" y="5366225"/>
            <a:ext cx="5245891" cy="959525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F29EB159-3BF3-F86F-B0ED-88638BD57113}"/>
              </a:ext>
            </a:extLst>
          </p:cNvPr>
          <p:cNvSpPr txBox="1"/>
          <p:nvPr/>
        </p:nvSpPr>
        <p:spPr>
          <a:xfrm>
            <a:off x="261256" y="4719895"/>
            <a:ext cx="61504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/>
              <a:t>Escala de color con matiz rojo modificando sus valores de saturación.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E1FA05A-C6BB-C820-6007-1F3FDF7A1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955" y="5469314"/>
            <a:ext cx="4915586" cy="959526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9BC68BA3-3A9B-7EF5-0056-39921A019061}"/>
              </a:ext>
            </a:extLst>
          </p:cNvPr>
          <p:cNvSpPr txBox="1"/>
          <p:nvPr/>
        </p:nvSpPr>
        <p:spPr>
          <a:xfrm>
            <a:off x="7053942" y="4719894"/>
            <a:ext cx="4497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/>
              <a:t>Escala de color con matiz rojo modificando sus valores de brillo</a:t>
            </a:r>
          </a:p>
        </p:txBody>
      </p:sp>
    </p:spTree>
    <p:extLst>
      <p:ext uri="{BB962C8B-B14F-4D97-AF65-F5344CB8AC3E}">
        <p14:creationId xmlns:p14="http://schemas.microsoft.com/office/powerpoint/2010/main" val="1516054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87A0540-7E9C-351E-DC10-412F20C8B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10" y="761891"/>
            <a:ext cx="9824777" cy="400605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54A3ED7-0E21-E6C1-709D-E2778B1D0EEC}"/>
              </a:ext>
            </a:extLst>
          </p:cNvPr>
          <p:cNvSpPr txBox="1"/>
          <p:nvPr/>
        </p:nvSpPr>
        <p:spPr>
          <a:xfrm>
            <a:off x="1057276" y="5551714"/>
            <a:ext cx="102747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Actividad propuesta: Busca los valores que codifican los siguientes colores y exprésalos en decimal y en hexadecimal: magenta, </a:t>
            </a:r>
            <a:r>
              <a:rPr lang="es-E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purple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white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E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black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01804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urso: Diseño UI (Comienza gratis) | EDteam">
            <a:extLst>
              <a:ext uri="{FF2B5EF4-FFF2-40B4-BE49-F238E27FC236}">
                <a16:creationId xmlns:a16="http://schemas.microsoft.com/office/drawing/2014/main" id="{E5061687-B7EC-CF90-AAE0-75901AAB4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57" y="277586"/>
            <a:ext cx="10189029" cy="6319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3557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6C74F3D-56E4-D6CE-C635-0E5FE6B77F42}"/>
              </a:ext>
            </a:extLst>
          </p:cNvPr>
          <p:cNvSpPr txBox="1"/>
          <p:nvPr/>
        </p:nvSpPr>
        <p:spPr>
          <a:xfrm>
            <a:off x="328246" y="917646"/>
            <a:ext cx="11535508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s-ES" sz="3200" b="1" dirty="0"/>
              <a:t>Resumen: </a:t>
            </a:r>
          </a:p>
          <a:p>
            <a:pPr rtl="0">
              <a:buNone/>
            </a:pPr>
            <a:endParaRPr lang="es-ES" b="1" dirty="0"/>
          </a:p>
          <a:p>
            <a:pPr rtl="0">
              <a:buNone/>
            </a:pPr>
            <a:r>
              <a:rPr lang="es-ES" b="1" dirty="0"/>
              <a:t>Interacción Persona-Ordenador</a:t>
            </a:r>
          </a:p>
          <a:p>
            <a:pPr rtl="0">
              <a:buNone/>
            </a:pPr>
            <a:r>
              <a:rPr lang="es-ES" dirty="0"/>
              <a:t>La interacción persona-ordenador estudia cómo las personas y los equipos informáticos intercambian información, con el objetivo de hacer ese intercambio más eficiente, reducir errores y aumentar la satisfacción del usuario.</a:t>
            </a:r>
          </a:p>
          <a:p>
            <a:pPr rtl="0">
              <a:buNone/>
            </a:pPr>
            <a:r>
              <a:rPr lang="es-ES" dirty="0"/>
              <a:t>Ya en 1971, Hansen estableció en su obra </a:t>
            </a:r>
            <a:r>
              <a:rPr lang="es-ES" i="1" dirty="0" err="1"/>
              <a:t>User</a:t>
            </a:r>
            <a:r>
              <a:rPr lang="es-ES" i="1" dirty="0"/>
              <a:t> </a:t>
            </a:r>
            <a:r>
              <a:rPr lang="es-ES" i="1" dirty="0" err="1"/>
              <a:t>Engineering</a:t>
            </a:r>
            <a:r>
              <a:rPr lang="es-ES" i="1" dirty="0"/>
              <a:t> </a:t>
            </a:r>
            <a:r>
              <a:rPr lang="es-ES" i="1" dirty="0" err="1"/>
              <a:t>Principles</a:t>
            </a:r>
            <a:r>
              <a:rPr lang="es-ES" i="1" dirty="0"/>
              <a:t> </a:t>
            </a:r>
            <a:r>
              <a:rPr lang="es-ES" i="1" dirty="0" err="1"/>
              <a:t>for</a:t>
            </a:r>
            <a:r>
              <a:rPr lang="es-ES" i="1" dirty="0"/>
              <a:t> Interactive </a:t>
            </a:r>
            <a:r>
              <a:rPr lang="es-ES" i="1" dirty="0" err="1"/>
              <a:t>Systems</a:t>
            </a:r>
            <a:r>
              <a:rPr lang="es-ES" dirty="0"/>
              <a:t> cuatro principios para el diseño de sistemas interactivos que siguen siendo válidos hoy: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s-ES" dirty="0"/>
              <a:t>Conocer y entender al usuario final.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s-ES" dirty="0"/>
              <a:t>Reducir al mínimo lo que el usuario debe memorizar.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s-ES" dirty="0"/>
              <a:t>Optimizar las tareas más frecuentes para que se ejecuten de forma rápida y fluida.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s-ES" dirty="0"/>
              <a:t>Diseñar mensajes de error claros, prevenir los fallos más habituales, permitir deshacer acciones y garantizar la estabilidad del sistema ante cualquier fallo.</a:t>
            </a:r>
          </a:p>
          <a:p>
            <a:pPr>
              <a:buNone/>
            </a:pPr>
            <a:br>
              <a:rPr lang="es-ES" dirty="0"/>
            </a:br>
            <a:endParaRPr lang="es-ES" dirty="0"/>
          </a:p>
          <a:p>
            <a:pPr rtl="0">
              <a:buNone/>
            </a:pPr>
            <a:r>
              <a:rPr lang="es-ES" b="1" dirty="0"/>
              <a:t> Diseño Gráfico e Interfaces</a:t>
            </a:r>
          </a:p>
          <a:p>
            <a:pPr rtl="0">
              <a:buNone/>
            </a:pPr>
            <a:r>
              <a:rPr lang="es-ES" dirty="0"/>
              <a:t>Una buena interacción parte de un diseño gráfico bien pensado. El diseño gráfico en software consiste en planificar y crear la comunicación visual de una aplicación o herramienta, teniendo tres grandes funciones: </a:t>
            </a:r>
            <a:r>
              <a:rPr lang="es-ES" b="1" dirty="0"/>
              <a:t>estética, publicitaria y comunicativa.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0832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42716FF-7F7F-78E0-5356-8B9A9946BB48}"/>
              </a:ext>
            </a:extLst>
          </p:cNvPr>
          <p:cNvSpPr txBox="1"/>
          <p:nvPr/>
        </p:nvSpPr>
        <p:spPr>
          <a:xfrm>
            <a:off x="904352" y="258811"/>
            <a:ext cx="990767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s-ES" b="1" dirty="0"/>
              <a:t>Prototipos: los tres tipos principales</a:t>
            </a:r>
          </a:p>
          <a:p>
            <a:pPr rtl="0">
              <a:buNone/>
            </a:pPr>
            <a:r>
              <a:rPr lang="es-ES" dirty="0"/>
              <a:t>Antes de desarrollar una interfaz real se crean modelos previos para visualizar el producto final y detectar problemas antes de programar. Los tres más utilizados son: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s-ES" b="1" dirty="0" err="1"/>
              <a:t>Sketching</a:t>
            </a:r>
            <a:r>
              <a:rPr lang="es-ES" dirty="0"/>
              <a:t> → boceto a mano que dibuja la estructura de pantallas y sus relaciones, sin ningún detalle de diseño.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s-ES" b="1" dirty="0" err="1"/>
              <a:t>Wireframing</a:t>
            </a:r>
            <a:r>
              <a:rPr lang="es-ES" dirty="0"/>
              <a:t> → maqueta más detallada con la disposición real de los elementos, sin colores ni estilos definitivos.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s-ES" b="1" dirty="0"/>
              <a:t>Prototipado</a:t>
            </a:r>
            <a:r>
              <a:rPr lang="es-ES" dirty="0"/>
              <a:t> → versión interactiva que permite evaluar no solo el aspecto visual sino también el funcionamiento y la experiencia de uso.</a:t>
            </a:r>
          </a:p>
          <a:p>
            <a:pPr>
              <a:buNone/>
            </a:pPr>
            <a:br>
              <a:rPr lang="es-ES" dirty="0"/>
            </a:br>
            <a:endParaRPr lang="es-ES" dirty="0"/>
          </a:p>
          <a:p>
            <a:pPr rtl="0">
              <a:buNone/>
            </a:pPr>
            <a:r>
              <a:rPr lang="es-ES" b="1" dirty="0"/>
              <a:t> Objetos y Acciones en una Interfaz</a:t>
            </a:r>
          </a:p>
          <a:p>
            <a:pPr rtl="0">
              <a:buNone/>
            </a:pPr>
            <a:r>
              <a:rPr lang="es-ES" dirty="0"/>
              <a:t>Al analizar una aplicación, lo primero es identificar las tareas que debe realizar y definir sus objetos (sustantivos) y acciones (verbos). Este enfoque es equivalente al diseño orientado a objetos en programación.</a:t>
            </a:r>
          </a:p>
          <a:p>
            <a:pPr rtl="0">
              <a:buNone/>
            </a:pPr>
            <a:r>
              <a:rPr lang="es-ES" dirty="0"/>
              <a:t>Los objetos se clasifican en tres tipos: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s-ES" b="1" dirty="0"/>
              <a:t>Objetos origen</a:t>
            </a:r>
            <a:r>
              <a:rPr lang="es-ES" dirty="0"/>
              <a:t> — elementos que pueden moverse y colocarse sobre otros.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s-ES" b="1" dirty="0"/>
              <a:t>Objetos destino</a:t>
            </a:r>
            <a:r>
              <a:rPr lang="es-ES" dirty="0"/>
              <a:t> — elementos que reciben a los objetos origen.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s-ES" b="1" dirty="0"/>
              <a:t>Objetos de la aplicación</a:t>
            </a:r>
            <a:r>
              <a:rPr lang="es-ES" dirty="0"/>
              <a:t> — elementos propios del sistema que no permiten interacción directa con el usuario.</a:t>
            </a:r>
          </a:p>
        </p:txBody>
      </p:sp>
    </p:spTree>
    <p:extLst>
      <p:ext uri="{BB962C8B-B14F-4D97-AF65-F5344CB8AC3E}">
        <p14:creationId xmlns:p14="http://schemas.microsoft.com/office/powerpoint/2010/main" val="3116895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E8DD42F-E735-DDC2-DDF2-B5227D4D4055}"/>
              </a:ext>
            </a:extLst>
          </p:cNvPr>
          <p:cNvSpPr txBox="1"/>
          <p:nvPr/>
        </p:nvSpPr>
        <p:spPr>
          <a:xfrm>
            <a:off x="733529" y="1305341"/>
            <a:ext cx="1042014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s-ES" b="1" dirty="0"/>
              <a:t>Herramientas para el Desarrollo de Interfaces</a:t>
            </a:r>
          </a:p>
          <a:p>
            <a:pPr rtl="0">
              <a:buNone/>
            </a:pPr>
            <a:r>
              <a:rPr lang="es-ES" dirty="0"/>
              <a:t>El desarrollo basado en componentes visuales ofrece grandes ventajas, siendo la más importante la </a:t>
            </a:r>
            <a:r>
              <a:rPr lang="es-ES" b="1" dirty="0"/>
              <a:t>reutilización del código</a:t>
            </a:r>
            <a:r>
              <a:rPr lang="es-ES" dirty="0"/>
              <a:t>: los componentes creados pueden usarse en nuevos proyectos, ahorrando tiempo y evitando repetir trabajo ya hecho.</a:t>
            </a:r>
          </a:p>
          <a:p>
            <a:pPr rtl="0">
              <a:buNone/>
            </a:pPr>
            <a:r>
              <a:rPr lang="es-ES" dirty="0"/>
              <a:t>Algunas de las herramientas más conocidas actualmente son: </a:t>
            </a:r>
            <a:r>
              <a:rPr lang="es-ES" b="1" dirty="0"/>
              <a:t>Visual Studio, </a:t>
            </a:r>
            <a:r>
              <a:rPr lang="es-ES" b="1" dirty="0" err="1"/>
              <a:t>Monodevelop</a:t>
            </a:r>
            <a:r>
              <a:rPr lang="es-ES" b="1" dirty="0"/>
              <a:t>, Glade, NetBeans y Eclipse.</a:t>
            </a:r>
            <a:endParaRPr lang="es-ES" dirty="0"/>
          </a:p>
          <a:p>
            <a:pPr>
              <a:buNone/>
            </a:pPr>
            <a:br>
              <a:rPr lang="es-ES" dirty="0"/>
            </a:br>
            <a:endParaRPr lang="es-ES" dirty="0"/>
          </a:p>
          <a:p>
            <a:pPr rtl="0">
              <a:buNone/>
            </a:pPr>
            <a:r>
              <a:rPr lang="es-ES" b="1" dirty="0"/>
              <a:t>El Color en las Interfaces: Sistema RGB</a:t>
            </a:r>
          </a:p>
          <a:p>
            <a:pPr rtl="0">
              <a:buNone/>
            </a:pPr>
            <a:r>
              <a:rPr lang="es-ES" dirty="0"/>
              <a:t>El ojo humano percibe el mundo a partir de tres colores aditivos básicos: </a:t>
            </a:r>
            <a:r>
              <a:rPr lang="es-ES" b="1" dirty="0"/>
              <a:t>Azul (B), Rojo (R) y Verde (G)</a:t>
            </a:r>
            <a:r>
              <a:rPr lang="es-ES" dirty="0"/>
              <a:t>. Combinándolos en distintas proporciones se obtiene cualquier color visible.</a:t>
            </a:r>
          </a:p>
          <a:p>
            <a:pPr rtl="0">
              <a:buNone/>
            </a:pPr>
            <a:r>
              <a:rPr lang="es-ES" dirty="0"/>
              <a:t>Los ordenadores reproducen esta misma lógica mediante el </a:t>
            </a:r>
            <a:r>
              <a:rPr lang="es-ES" b="1" dirty="0"/>
              <a:t>Sistema RGB (Red-Green-Blue)</a:t>
            </a:r>
            <a:r>
              <a:rPr lang="es-ES" dirty="0"/>
              <a:t>: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s-ES" dirty="0"/>
              <a:t>Cada color se representa con </a:t>
            </a:r>
            <a:r>
              <a:rPr lang="es-ES" b="1" dirty="0"/>
              <a:t>8 bits</a:t>
            </a:r>
            <a:r>
              <a:rPr lang="es-ES" dirty="0"/>
              <a:t>, lo que da </a:t>
            </a:r>
            <a:r>
              <a:rPr lang="es-ES" b="1" dirty="0"/>
              <a:t>256 valores posibles</a:t>
            </a:r>
            <a:r>
              <a:rPr lang="es-ES" dirty="0"/>
              <a:t> (de 0 a 255) por canal.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s-ES" dirty="0"/>
              <a:t>Combinando los tres canales se obtiene una paleta de más de </a:t>
            </a:r>
            <a:r>
              <a:rPr lang="es-ES" b="1" dirty="0"/>
              <a:t>16 millones de colores</a:t>
            </a:r>
            <a:r>
              <a:rPr lang="es-ES" dirty="0"/>
              <a:t>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s-ES" dirty="0"/>
              <a:t>Una escala monocromática de un único color tiene </a:t>
            </a:r>
            <a:r>
              <a:rPr lang="es-ES" b="1" dirty="0"/>
              <a:t>256 tonos</a:t>
            </a:r>
            <a:r>
              <a:rPr lang="es-ES" dirty="0"/>
              <a:t> (2⁸).</a:t>
            </a:r>
          </a:p>
        </p:txBody>
      </p:sp>
    </p:spTree>
    <p:extLst>
      <p:ext uri="{BB962C8B-B14F-4D97-AF65-F5344CB8AC3E}">
        <p14:creationId xmlns:p14="http://schemas.microsoft.com/office/powerpoint/2010/main" val="14855972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4030</TotalTime>
  <Words>2597</Words>
  <Application>Microsoft Office PowerPoint</Application>
  <PresentationFormat>Panorámica</PresentationFormat>
  <Paragraphs>174</Paragraphs>
  <Slides>25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Tema de Office</vt:lpstr>
      <vt:lpstr>Introducción al diseño de interfaces y aplicaciones  para el diseño</vt:lpstr>
      <vt:lpstr>Presentación de PowerPoint</vt:lpstr>
      <vt:lpstr>Interacción persona-ordenador</vt:lpstr>
      <vt:lpstr>Principios de Diseño de Sistemas Interactivos (Hansen, 1971)  Conocer al usuario: Entender quién usa el sistema.  Reducir la memorización: Usar opciones seleccionables y nombres en vez de números, y hacer el sistema predecible.  Optimizar operaciones: Acelerar tareas comunes y ajustar el sistema según su uso.  Evitar errores: Dar mensajes claros, permitir deshacer acciones y proteger el sistema ante fallos. </vt:lpstr>
      <vt:lpstr>Diseño Gráfico en Interfaces</vt:lpstr>
      <vt:lpstr>Presentación de PowerPoint</vt:lpstr>
      <vt:lpstr>Presentación de PowerPoint</vt:lpstr>
      <vt:lpstr>Presentación de PowerPoint</vt:lpstr>
      <vt:lpstr>Herramientas</vt:lpstr>
      <vt:lpstr>Prototipos. Elementos clave de un prototipo</vt:lpstr>
      <vt:lpstr>Presentación de PowerPoint</vt:lpstr>
      <vt:lpstr>SKETCHING,  WIREFRAMING y MOCKUP  Imagina que vas a crear una app de recetas de cocina</vt:lpstr>
      <vt:lpstr>Aplicaciones para el desarrollo de interfaces</vt:lpstr>
      <vt:lpstr>Presentación de PowerPoint</vt:lpstr>
      <vt:lpstr>Presentación de PowerPoint</vt:lpstr>
      <vt:lpstr>Herramientas para la creación de interfaces gráficas: </vt:lpstr>
      <vt:lpstr>Planteamiento y diseño de una interfaz</vt:lpstr>
      <vt:lpstr>Pasos para el diseño de un sitio web:</vt:lpstr>
      <vt:lpstr>COLOR</vt:lpstr>
      <vt:lpstr>Matiz, saturación y brillo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Teresa Antón Jaume</dc:creator>
  <cp:lastModifiedBy>Teresa María Antón Jaume</cp:lastModifiedBy>
  <cp:revision>23</cp:revision>
  <dcterms:created xsi:type="dcterms:W3CDTF">2024-10-11T17:10:11Z</dcterms:created>
  <dcterms:modified xsi:type="dcterms:W3CDTF">2026-09-18T10:07:45Z</dcterms:modified>
</cp:coreProperties>
</file>